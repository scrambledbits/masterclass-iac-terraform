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Bienvenidos. Hoy veremos cómo dejar atrás las configuraciones manuales que rompen producción y cómo automatizar redes y servidores completos en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Soy Emilio Castro, Senior DevOps Engineer con dos décadas de experiencia en Linux y automatización cloud. He trabajado en empresas como Globant, TCS y UnoSquare, construyendo infraestructura segura y escalable para entornos enterprise. Hoy soy instructor en BootcamPeru, formando a la siguiente generación de ingenieros en DevOps e IaC. La lección más dura que aprendí: si no está en código, no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'ClickOps' es entrar a la consola a hacer clics. Funciona para aprender, pero en el mundo real genera servidores 'Copo de Nieve': frágiles, únicos, y que nadie sabe replicar si hay un desastre.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pasamos de un servidor a decenas de microservicios, el ClickOps es insostenible. Necesitamos un enfoque declarativo: describir el estado final deseado y dejar que la herramienta construya el camino.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utiliza un archivo de estado para saber qué existe en la realidad. Es el puente entre nuestro código y la nube. Hoy veremos cómo nos protege de los errores humanos.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próximos 20 minutos vamos a desplegar esto desde cero. Crearemos nuestra propia red privada, una subred pública, abriremos el puerto de SSH y levantaremos un servidor. Luego... simularemos un desastre.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acaban de ver se ejecutó localmente. En la vida real, el estado se guarda cifrado en un backend remoto como S3, y este código se ejecuta automáticamente desde un pipeline de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espacio para un par de preguntas rápidas sobre Terraform o la arquitectura que acabamos de desplegar.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quieren dominar esto a nivel empresarial, implementando seguridad, manejo de costos y despliegues automáticos, los invito a revisar los Bootcamps. Dejen de apagar fuegos y empiecen a automatizar.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 por su atención. Los invito a conectar y a seguir explorando el mundo de la infraestructura como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" cy="3474720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164592"/>
            <a:ext cx="1920240" cy="40233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164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BOOTCAMPERU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868680"/>
            <a:ext cx="9144000" cy="3063240"/>
          </a:xfrm>
          <a:prstGeom prst="rect">
            <a:avLst/>
          </a:prstGeom>
          <a:solidFill>
            <a:srgbClr val="161B22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Código: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 del ClickOps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redes y servidores completos en minutos con Terraform + AWS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444752" cy="347472"/>
          </a:xfrm>
          <a:prstGeom prst="rect">
            <a:avLst/>
          </a:prstGeom>
          <a:solidFill>
            <a:srgbClr val="21262D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06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Terraform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76272" y="4206240"/>
            <a:ext cx="1444752" cy="347472"/>
          </a:xfrm>
          <a:prstGeom prst="rect">
            <a:avLst/>
          </a:prstGeom>
          <a:solidFill>
            <a:srgbClr val="21262D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4206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03904" y="4206240"/>
            <a:ext cx="1444752" cy="347472"/>
          </a:xfrm>
          <a:prstGeom prst="rect">
            <a:avLst/>
          </a:prstGeom>
          <a:solidFill>
            <a:srgbClr val="21262D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4206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IaC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1536" y="4206240"/>
            <a:ext cx="1444752" cy="347472"/>
          </a:xfrm>
          <a:prstGeom prst="rect">
            <a:avLst/>
          </a:prstGeom>
          <a:solidFill>
            <a:srgbClr val="21262D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4206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DevOps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59168" y="4206240"/>
            <a:ext cx="1444752" cy="347472"/>
          </a:xfrm>
          <a:prstGeom prst="rect">
            <a:avLst/>
          </a:prstGeom>
          <a:solidFill>
            <a:srgbClr val="21262D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42062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CI/CD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bootcamperu.com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[ Tu Foto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657600"/>
            <a:ext cx="2651760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Emilio Castro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</a:rPr>
              <a:t>Sr. DevOps Engineer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82296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144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20+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95097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 en Linux y Cloud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591056"/>
            <a:ext cx="82296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9105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IaC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51960" y="1627632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Ansible · Packer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267712"/>
            <a:ext cx="82296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2677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K8s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51960" y="230428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(EKS/AKS/GKE) · Docker · Helm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2944368"/>
            <a:ext cx="82296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9443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Multi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2980944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GCP · DigitalOcean · Oracle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3621024"/>
            <a:ext cx="822960" cy="47548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62102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CI/CD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3657600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GitLab CI · Azure DevOps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4343400"/>
            <a:ext cx="557784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4343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883E"/>
                </a:solidFill>
              </a:rPr>
              <a:t>"Si no está en código, no existe."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Antipatrón "ClickOps" y el Monolito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83464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834640" cy="41148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</a:rPr>
              <a:t>CLICKOPS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1097280" cy="10972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00200"/>
            <a:ext cx="822960" cy="8229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43200"/>
            <a:ext cx="1005840" cy="1005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3794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883E"/>
                </a:solidFill>
              </a:rPr>
              <a:t>Snowflake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0883E"/>
                </a:solidFill>
              </a:rPr>
              <a:t>Server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3429000" y="914400"/>
            <a:ext cx="53492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429000" y="914400"/>
            <a:ext cx="64008" cy="117043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7"/>
          <p:cNvSpPr/>
          <p:nvPr/>
        </p:nvSpPr>
        <p:spPr>
          <a:xfrm>
            <a:off x="361188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ClickOps?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611880" y="137160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infraestructura haciendo clics en la consola web en lugar de escribir código.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429000" y="2240280"/>
            <a:ext cx="53492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29000" y="2240280"/>
            <a:ext cx="64008" cy="117043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6" name="Text 11"/>
          <p:cNvSpPr/>
          <p:nvPr/>
        </p:nvSpPr>
        <p:spPr>
          <a:xfrm>
            <a:off x="361188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'Copo de Nieve'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11880" y="269748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Frágil, único e irrepetible. Nadie sabe qué tiene instalado. Si muere, la producción muere.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429000" y="3566160"/>
            <a:ext cx="53492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429000" y="3566160"/>
            <a:ext cx="64008" cy="117043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0" name="Text 15"/>
          <p:cNvSpPr/>
          <p:nvPr/>
        </p:nvSpPr>
        <p:spPr>
          <a:xfrm>
            <a:off x="361188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Real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611880" y="4023360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trazabilidad, sin versionado, sin reproducibilidad. El caos operacional está garantizado.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y la Arquitectura Moderna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566160" cy="438912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ANTES — ClickOps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Servidor monolítico único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84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Configuración manual por clic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511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Sin historial ni trazabilidad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181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Escalado manual y lento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85032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850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Si falla: rezar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2286000"/>
            <a:ext cx="914400" cy="4754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286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117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60520" y="28346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IaC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914400"/>
            <a:ext cx="3566160" cy="43891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914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DESPUÉS — IaC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1417320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417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Microservicios declarativos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1984248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9842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Código versionado en Git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2551176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5511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Historial completo de cambios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12080" y="3118104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1181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Escalado automático e ilimitado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12080" y="3685032"/>
            <a:ext cx="356616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36850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Si falla: terraform apply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8A6FF"/>
                </a:solidFill>
              </a:rPr>
              <a:t>"Describe el estado final deseado y deja que la herramienta construya el camino." — Enfoque Declarativo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y El Estado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49440" y="182880"/>
            <a:ext cx="1920240" cy="384048"/>
          </a:xfrm>
          <a:prstGeom prst="rect">
            <a:avLst/>
          </a:prstGeom>
          <a:solidFill>
            <a:srgbClr val="21262D"/>
          </a:solidFill>
          <a:ln w="9525">
            <a:solidFill>
              <a:srgbClr val="BB86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182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8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v1.x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26974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2697480" cy="5303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950976"/>
            <a:ext cx="594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95097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2505456" cy="420624"/>
          </a:xfrm>
          <a:prstGeom prst="rect">
            <a:avLst/>
          </a:prstGeom>
          <a:solidFill>
            <a:srgbClr val="0D1117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57276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08483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el directorio de trabajo.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proveedores y módulos necesarios.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914400"/>
            <a:ext cx="26974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914400"/>
            <a:ext cx="2697480" cy="5303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5" name="Text 13"/>
          <p:cNvSpPr/>
          <p:nvPr/>
        </p:nvSpPr>
        <p:spPr>
          <a:xfrm>
            <a:off x="3300984" y="950976"/>
            <a:ext cx="594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6200" y="95097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19272" y="1572768"/>
            <a:ext cx="2505456" cy="420624"/>
          </a:xfrm>
          <a:prstGeom prst="rect">
            <a:avLst/>
          </a:prstGeom>
          <a:solidFill>
            <a:srgbClr val="0D1117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2424" y="157276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64992" y="208483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y muestra los cambios sin ejecutarlos.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antes de tocar producción.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08192" y="914400"/>
            <a:ext cx="26974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914400"/>
            <a:ext cx="2697480" cy="5303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6181344" y="950976"/>
            <a:ext cx="594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95097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99632" y="1572768"/>
            <a:ext cx="2505456" cy="420624"/>
          </a:xfrm>
          <a:prstGeom prst="rect">
            <a:avLst/>
          </a:prstGeom>
          <a:solidFill>
            <a:srgbClr val="0D1117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57276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45352" y="208483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los cambios y actualiza el archivo de estado (.tfstate) con la realidad.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0779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8815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49E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47472" y="3886200"/>
            <a:ext cx="8449056" cy="960120"/>
          </a:xfrm>
          <a:prstGeom prst="rect">
            <a:avLst/>
          </a:prstGeom>
          <a:solidFill>
            <a:srgbClr val="21262D"/>
          </a:solidFill>
          <a:ln w="9525">
            <a:solidFill>
              <a:srgbClr val="58A6FF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05072"/>
            <a:ext cx="411480" cy="4114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51560" y="39136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El Archivo de Estado (.tfstate)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51560" y="42519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Puente entre tu código y la infraestructura real. Registra cada recurso. Terraform lo usa para calcular diffs y protegerte de cambios no deseados.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280160" cy="4114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645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6675120" cy="4069080"/>
          </a:xfrm>
          <a:prstGeom prst="rect">
            <a:avLst/>
          </a:prstGeom>
          <a:solidFill>
            <a:srgbClr val="161B22">
              <a:alpha val="50000"/>
            </a:srgbClr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778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  10.0.0.0/16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389888"/>
            <a:ext cx="6217920" cy="3246120"/>
          </a:xfrm>
          <a:prstGeom prst="rect">
            <a:avLst/>
          </a:prstGeom>
          <a:solidFill>
            <a:srgbClr val="0D1117">
              <a:alpha val="70000"/>
            </a:srgbClr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 Pública  10.0.1.0/24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18288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828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</a:rPr>
              <a:t>Internet Gateway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2176272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 0.0.0.0/0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1920240"/>
            <a:ext cx="2148840" cy="2468880"/>
          </a:xfrm>
          <a:prstGeom prst="rect">
            <a:avLst/>
          </a:prstGeom>
          <a:solidFill>
            <a:srgbClr val="161B22">
              <a:alpha val="7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65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Security Group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258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22 (SSH)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" y="2697480"/>
            <a:ext cx="182880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743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EC2 Instance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30906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t2.micro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22.04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3611880"/>
            <a:ext cx="457200" cy="4114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132320" y="822960"/>
            <a:ext cx="1737360" cy="292608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2" name="Text 19"/>
          <p:cNvSpPr/>
          <p:nvPr/>
        </p:nvSpPr>
        <p:spPr>
          <a:xfrm>
            <a:off x="7178040" y="877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Componentes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78040" y="1280160"/>
            <a:ext cx="91440" cy="2926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4" name="Text 21"/>
          <p:cNvSpPr/>
          <p:nvPr/>
        </p:nvSpPr>
        <p:spPr>
          <a:xfrm>
            <a:off x="7360920" y="1280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</a:rPr>
              <a:t>VPC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78040" y="1737360"/>
            <a:ext cx="91440" cy="29260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6" name="Text 23"/>
          <p:cNvSpPr/>
          <p:nvPr/>
        </p:nvSpPr>
        <p:spPr>
          <a:xfrm>
            <a:off x="7360920" y="1737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BC9C"/>
                </a:solidFill>
              </a:rPr>
              <a:t>Subnet Pública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178040" y="2194560"/>
            <a:ext cx="91440" cy="2926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8" name="Text 25"/>
          <p:cNvSpPr/>
          <p:nvPr/>
        </p:nvSpPr>
        <p:spPr>
          <a:xfrm>
            <a:off x="7360920" y="2194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</a:rPr>
              <a:t>Internet Gateway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178040" y="2651760"/>
            <a:ext cx="91440" cy="2926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0" name="Text 27"/>
          <p:cNvSpPr/>
          <p:nvPr/>
        </p:nvSpPr>
        <p:spPr>
          <a:xfrm>
            <a:off x="7360920" y="2651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</a:rPr>
              <a:t>Security Group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178040" y="3108960"/>
            <a:ext cx="91440" cy="2926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2" name="Text 29"/>
          <p:cNvSpPr/>
          <p:nvPr/>
        </p:nvSpPr>
        <p:spPr>
          <a:xfrm>
            <a:off x="7360920" y="3108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EC2 Instance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132320" y="3977640"/>
            <a:ext cx="173736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32320" y="3977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~20 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desde cero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697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1005840"/>
            <a:ext cx="685800" cy="685800"/>
          </a:xfrm>
          <a:prstGeom prst="ellipse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069848"/>
            <a:ext cx="557784" cy="557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como Fuente de Verdad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2468880"/>
            <a:ext cx="2423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en repositorios Git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con revisión antes del merge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por ambiente: dev / staging / prod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y rollback fácil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914400"/>
            <a:ext cx="2697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33672" y="1005840"/>
            <a:ext cx="685800" cy="685800"/>
          </a:xfrm>
          <a:prstGeom prst="ellipse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69848"/>
            <a:ext cx="557784" cy="5577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19272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Remoto y Cifrado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64992" y="2468880"/>
            <a:ext cx="2423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S3 + DynamoDB locking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cifrado en tránsito y en reposo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subir .tfstate a Git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de estado en S3 habilitado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08192" y="914400"/>
            <a:ext cx="2697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14032" y="1005840"/>
            <a:ext cx="685800" cy="685800"/>
          </a:xfrm>
          <a:prstGeom prst="ellipse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69848"/>
            <a:ext cx="557784" cy="5577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de CI/CD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45352" y="2468880"/>
            <a:ext cx="2423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en cada Pull Request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solo al hacer merge a main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al equipo de cambios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separadas por ambiente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548640"/>
            <a:ext cx="2926080" cy="292608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0" y="5486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&amp; Respuestas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Terraform  ·  AWS  ·  IaC  ·  Arquitectura  ·  CI/CD  ·  Buenas Prácticas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¡Deja de Apagar Fuegos.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a Automatizar!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269748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80160"/>
            <a:ext cx="73152" cy="66751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2423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DevOps y Cloud Computing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69748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280160"/>
            <a:ext cx="73152" cy="66751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80160"/>
            <a:ext cx="2423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</a:rPr>
              <a:t>Arquitectura Cloud AWS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53328" y="1280160"/>
            <a:ext cx="269748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1280160"/>
            <a:ext cx="73152" cy="66751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280160"/>
            <a:ext cx="2423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</a:rPr>
              <a:t>Seguridad en Cloud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2103120"/>
            <a:ext cx="269748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103120"/>
            <a:ext cx="73152" cy="66751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103120"/>
            <a:ext cx="2423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Automatización con Terraform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2103120"/>
            <a:ext cx="269748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BB86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103120"/>
            <a:ext cx="73152" cy="667512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103120"/>
            <a:ext cx="2423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86FC"/>
                </a:solidFill>
              </a:rPr>
              <a:t>CI/CD con GitHub Actions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53328" y="2103120"/>
            <a:ext cx="2697480" cy="66751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2103120"/>
            <a:ext cx="73152" cy="66751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2103120"/>
            <a:ext cx="2423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</a:rPr>
              <a:t>FinOps y Gestión de Costos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3154680"/>
            <a:ext cx="164592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5468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[ QR 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7472" y="4636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</a:rPr>
              <a:t>bootcamperu.com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40280" y="321868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Domina IaC a nivel empresarial: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86000" y="3639312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Seguridad y cumplimiento cloud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Manejo avanzado de costos (FinOps)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Despliegues automáticos en producción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Certificaciones AWS, Azure y GCP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BOOTCAMPERU — Formación técnica de nivel empresarial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685800"/>
            <a:ext cx="6949440" cy="4297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737360"/>
            <a:ext cx="6949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828800" y="2651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</a:rPr>
              <a:t>El código es poder. La automatización es libertad.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3337560"/>
            <a:ext cx="4572000" cy="5029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emilio@emiliocastro.com.mx  ·  emiliocastro.com.mx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0" y="4023360"/>
            <a:ext cx="3657600" cy="43891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0" y="40233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BOOTCAMPERU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2" name="Text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Infraestructura como Código: El Fin del ClickOps — Bootcamperu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Infraestructura como Código: El Fin del ClickOps</dc:title>
  <dc:subject>PptxGenJS Presentation</dc:subject>
  <dc:creator>Bootcamperu</dc:creator>
  <cp:lastModifiedBy>Bootcamperu</cp:lastModifiedBy>
  <cp:revision>1</cp:revision>
  <dcterms:created xsi:type="dcterms:W3CDTF">2026-03-12T00:14:33Z</dcterms:created>
  <dcterms:modified xsi:type="dcterms:W3CDTF">2026-03-12T00:14:33Z</dcterms:modified>
</cp:coreProperties>
</file>